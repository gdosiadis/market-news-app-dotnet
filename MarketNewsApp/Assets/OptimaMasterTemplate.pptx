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ptima Cover">
    <p:bg>
      <p:bgPr>
        <a:solidFill>
          <a:srgbClr val="380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1FF9-5852-AEA8-F675-2A30647BC6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2514600"/>
            <a:ext cx="9144000" cy="1397000"/>
          </a:xfrm>
        </p:spPr>
        <p:txBody>
          <a:bodyPr wrap="square" anchor="b"/>
          <a:lstStyle>
            <a:lvl1pPr algn="ctr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l-GR"/>
              <a:t>Εβδομαδιαία Ανασκόπηση Αγορών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20D5D-0A36-694F-0DA5-A786E40678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8229600" cy="698500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Εσωτερική χρήση — Επενδυτικά Προϊόντα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59EF-7644-4253-BF9A-AF3B4AE7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172199"/>
            <a:ext cx="4000500" cy="393700"/>
          </a:xfrm>
        </p:spPr>
        <p:txBody>
          <a:bodyPr/>
          <a:lstStyle>
            <a:lvl1pPr>
              <a:defRPr sz="1400">
                <a:solidFill>
                  <a:srgbClr val="E6D6EA"/>
                </a:solidFill>
              </a:defRPr>
            </a:lvl1pPr>
          </a:lstStyle>
          <a:p>
            <a:fld id="{754DAA6B-7A78-4CC7-BDDD-BCE21612EABA}" type="datetimeFigureOut">
              <a:rPr lang="el-GR" smtClean="0"/>
              <a:pPr/>
              <a:t>9/7/2026</a:t>
            </a:fld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3D087E-C6D1-078A-8953-E14CF996542C}"/>
              </a:ext>
            </a:extLst>
          </p:cNvPr>
          <p:cNvSpPr/>
          <p:nvPr userDrawn="1"/>
        </p:nvSpPr>
        <p:spPr>
          <a:xfrm rot="-1200000">
            <a:off x="8483600" y="-1206500"/>
            <a:ext cx="6502400" cy="901700"/>
          </a:xfrm>
          <a:prstGeom prst="rect">
            <a:avLst/>
          </a:prstGeom>
          <a:solidFill>
            <a:srgbClr val="FF8B00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2E6B2-DD37-D55E-4D67-3C001077E975}"/>
              </a:ext>
            </a:extLst>
          </p:cNvPr>
          <p:cNvSpPr/>
          <p:nvPr userDrawn="1"/>
        </p:nvSpPr>
        <p:spPr>
          <a:xfrm rot="-1200000">
            <a:off x="9194800" y="5207000"/>
            <a:ext cx="6502400" cy="901700"/>
          </a:xfrm>
          <a:prstGeom prst="rect">
            <a:avLst/>
          </a:prstGeom>
          <a:solidFill>
            <a:srgbClr val="FF8B00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07804F-B229-C79E-E5FD-C5B2C19BA0B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85800"/>
            <a:ext cx="29718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0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ptima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D52-43D0-7A30-9DEF-E1825AE3F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0" y="88900"/>
            <a:ext cx="6972300" cy="508000"/>
          </a:xfrm>
        </p:spPr>
        <p:txBody>
          <a:bodyPr/>
          <a:lstStyle>
            <a:lvl1pPr algn="r">
              <a:defRPr sz="3200" b="0">
                <a:solidFill>
                  <a:srgbClr val="FF8B00"/>
                </a:solidFill>
              </a:defRPr>
            </a:lvl1pPr>
          </a:lstStyle>
          <a:p>
            <a:r>
              <a:rPr lang="en-US"/>
              <a:t>Caught our attention</a:t>
            </a:r>
            <a:endParaRPr lang="el-GR"/>
          </a:p>
        </p:txBody>
      </p:sp>
      <p:sp>
        <p:nvSpPr>
          <p:cNvPr id="3" name="Bullets Placeholder">
            <a:extLst>
              <a:ext uri="{FF2B5EF4-FFF2-40B4-BE49-F238E27FC236}">
                <a16:creationId xmlns:a16="http://schemas.microsoft.com/office/drawing/2014/main" id="{F0F1381A-E158-E2B2-9BD8-513D8866AB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47800"/>
            <a:ext cx="11277600" cy="4914900"/>
          </a:xfrm>
        </p:spPr>
        <p:txBody>
          <a:bodyPr/>
          <a:lstStyle>
            <a:lvl1pPr>
              <a:buFontTx/>
              <a:buNone/>
              <a:defRPr sz="160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/>
              <a:t>❖  Bullet point</a:t>
            </a:r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58A99-69D3-769C-D624-489A4BA9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2500" y="6451600"/>
            <a:ext cx="5207000" cy="355600"/>
          </a:xfrm>
        </p:spPr>
        <p:txBody>
          <a:bodyPr/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r>
              <a:rPr lang="el-GR"/>
              <a:t>Εσωτερική χρήση — Δεν αποτελεί επενδυτική συμβουλή</a:t>
            </a:r>
          </a:p>
          <a:p>
            <a:r>
              <a:rPr lang="el-GR"/>
              <a:t>Market News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790AE-F7A7-A03A-0948-30B6E000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600" y="6451600"/>
            <a:ext cx="508000" cy="355600"/>
          </a:xfrm>
        </p:spPr>
        <p:txBody>
          <a:bodyPr/>
          <a:lstStyle>
            <a:lvl1pPr algn="r">
              <a:defRPr sz="1200">
                <a:solidFill>
                  <a:srgbClr val="1A1A1A"/>
                </a:solidFill>
              </a:defRPr>
            </a:lvl1pPr>
          </a:lstStyle>
          <a:p>
            <a:fld id="{0932C017-3961-4E85-9FAB-58B99B9EA0F5}" type="slidenum">
              <a:rPr lang="el-GR" smtClean="0"/>
              <a:pPr/>
              <a:t>‹#›</a:t>
            </a:fld>
            <a:endParaRPr lang="el-G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F1CC6-40FA-7C60-1BEE-06947739D49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74900" cy="673100"/>
          </a:xfrm>
          <a:prstGeom prst="rect">
            <a:avLst/>
          </a:prstGeom>
        </p:spPr>
      </p:pic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EA21EFCA-E154-01CD-4A10-17ADCE0EDF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9200" y="596900"/>
            <a:ext cx="6972300" cy="381000"/>
          </a:xfrm>
          <a:prstGeom prst="rect">
            <a:avLst/>
          </a:prstGeom>
        </p:spPr>
        <p:txBody>
          <a:bodyPr/>
          <a:lstStyle>
            <a:lvl1pPr algn="r">
              <a:buFontTx/>
              <a:buNone/>
              <a:defRPr sz="2000" b="1">
                <a:solidFill>
                  <a:srgbClr val="1A1A1A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6383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E33A-09AD-D7BF-432C-4353E6FB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82F2D-2328-391B-5957-0741B8DEA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A5A7F-D98B-EE57-6B46-14688F7A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7524-EE86-6A3D-3566-F2F44879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DFCF5-B64F-64C9-FBE0-258BB788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6161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ptima Chart +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F9D2-5BC5-9E56-10BB-807DC6BAD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0" y="88900"/>
            <a:ext cx="6972300" cy="508000"/>
          </a:xfrm>
        </p:spPr>
        <p:txBody>
          <a:bodyPr/>
          <a:lstStyle>
            <a:lvl1pPr algn="r">
              <a:defRPr sz="3200" b="0">
                <a:solidFill>
                  <a:srgbClr val="FF8B00"/>
                </a:solidFill>
              </a:defRPr>
            </a:lvl1pPr>
          </a:lstStyle>
          <a:p>
            <a:r>
              <a:rPr lang="en-US"/>
              <a:t>Markets review</a:t>
            </a:r>
            <a:endParaRPr lang="el-GR"/>
          </a:p>
        </p:txBody>
      </p:sp>
      <p:sp>
        <p:nvSpPr>
          <p:cNvPr id="3" name="Chart Placeholder">
            <a:extLst>
              <a:ext uri="{FF2B5EF4-FFF2-40B4-BE49-F238E27FC236}">
                <a16:creationId xmlns:a16="http://schemas.microsoft.com/office/drawing/2014/main" id="{15EBB2CA-9A5C-8163-60DF-5CCAA1177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54200"/>
            <a:ext cx="5486400" cy="4508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mmentary Placeholder">
            <a:extLst>
              <a:ext uri="{FF2B5EF4-FFF2-40B4-BE49-F238E27FC236}">
                <a16:creationId xmlns:a16="http://schemas.microsoft.com/office/drawing/2014/main" id="{E305A836-0623-3398-EE96-C9291A1E50B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447800"/>
            <a:ext cx="5486400" cy="4914900"/>
          </a:xfrm>
        </p:spPr>
        <p:txBody>
          <a:bodyPr/>
          <a:lstStyle>
            <a:lvl1pPr>
              <a:buFontTx/>
              <a:buNone/>
              <a:defRPr sz="140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/>
              <a:t>❖  Commentary bullet</a:t>
            </a:r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D8198-6DBC-56D0-D1BF-7470C15C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2500" y="6451600"/>
            <a:ext cx="5207000" cy="355600"/>
          </a:xfrm>
        </p:spPr>
        <p:txBody>
          <a:bodyPr/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r>
              <a:rPr lang="el-GR"/>
              <a:t>Εσωτερική χρήση — Δεν αποτελεί επενδυτική συμβουλή</a:t>
            </a:r>
          </a:p>
          <a:p>
            <a:r>
              <a:rPr lang="el-GR"/>
              <a:t>Market News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542BB-21B4-E53E-46F3-D167E04C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600" y="6451600"/>
            <a:ext cx="508000" cy="355600"/>
          </a:xfrm>
        </p:spPr>
        <p:txBody>
          <a:bodyPr/>
          <a:lstStyle>
            <a:lvl1pPr algn="r">
              <a:defRPr sz="1200">
                <a:solidFill>
                  <a:srgbClr val="1A1A1A"/>
                </a:solidFill>
              </a:defRPr>
            </a:lvl1pPr>
          </a:lstStyle>
          <a:p>
            <a:fld id="{0932C017-3961-4E85-9FAB-58B99B9EA0F5}" type="slidenum">
              <a:rPr lang="el-GR" smtClean="0"/>
              <a:pPr/>
              <a:t>‹#›</a:t>
            </a:fld>
            <a:endParaRPr lang="el-G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65A16E-AFC3-DB1C-1C47-6F7D3C8304F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74900" cy="673100"/>
          </a:xfrm>
          <a:prstGeom prst="rect">
            <a:avLst/>
          </a:prstGeom>
        </p:spPr>
      </p:pic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D4450FD-F3EE-324A-425D-5152406C9A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9200" y="596900"/>
            <a:ext cx="6972300" cy="381000"/>
          </a:xfrm>
          <a:prstGeom prst="rect">
            <a:avLst/>
          </a:prstGeom>
        </p:spPr>
        <p:txBody>
          <a:bodyPr/>
          <a:lstStyle>
            <a:lvl1pPr algn="r">
              <a:buFontTx/>
              <a:buNone/>
              <a:defRPr sz="2000" b="1">
                <a:solidFill>
                  <a:srgbClr val="1A1A1A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  <a:endParaRPr lang="el-GR"/>
          </a:p>
        </p:txBody>
      </p:sp>
      <p:sp>
        <p:nvSpPr>
          <p:cNvPr id="11" name="Chart Caption Placeholder">
            <a:extLst>
              <a:ext uri="{FF2B5EF4-FFF2-40B4-BE49-F238E27FC236}">
                <a16:creationId xmlns:a16="http://schemas.microsoft.com/office/drawing/2014/main" id="{29FF6530-65D2-98C8-0FDA-D5EF6C7A91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447800"/>
            <a:ext cx="5486400" cy="355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300" b="1">
                <a:solidFill>
                  <a:srgbClr val="FF8B00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/>
              <a:t>Chart caption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3678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70DF-DC3E-1411-AE0C-F640A74F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F337A-3277-9813-1516-E715E5C0A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808D0-E93B-932B-80F5-FD8F7E6D0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C4C9A-0D07-4B5D-03B2-9CD0CB6CB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8730-DA71-3929-0F3F-375CC7B2E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60A86-0DD8-6BA9-F9E6-6E6EEAE7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62178-6DAF-7635-16F2-C0CD3C62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827A3-2C12-4883-7D1C-075EF4D4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3944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F3AB-4A30-2B30-DFB1-9A25BF41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147F3-AD54-0E8F-7679-F00016A13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EBCED-2721-1341-7749-F68AC32E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448A1-E5A0-B1A9-20FE-A9C254DB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896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D6854-A6CD-BFA5-F92E-642F401E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C3725-BF3D-D5F8-ACFC-A8727C53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F6668-C953-7A02-D64C-ADA86225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5104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12DE-7D37-A51B-B418-557BBCA7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4925-D5A3-13B6-49FF-480BAD2FB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163D6-F1EB-BE8A-6793-D152347C2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4290-8FB9-E02F-1FC0-F5119B91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923DA-1182-D3DB-0E72-B091878A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1EC8D-AECB-E285-A46B-9072C6DD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247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C644-65D2-A8BC-120C-81B5E8DD7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4A4AC-3FA5-0B42-1C36-846758B65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47638-614C-B8C1-302F-4A882996D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A7985-87E9-2D25-ABE1-8F7E9121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818B7-81C0-773C-7C11-9083F579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24045-5944-BA73-6383-F087CCC8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3463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5BF-9D1E-C838-2925-53E983A3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1E6F2-FFBD-A760-D31C-33BA0CD96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8FB4-BE78-3967-AD4B-3F170654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96DF-3DC5-EE33-3FCC-489CC50C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C6D02-BBB0-BE10-1936-7729FF14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5178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74695-BF27-C669-A31A-E4D653EC3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954E8-63B6-67CD-0735-C00E3EA00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0B1AC-9D88-F121-03FA-ACB08D20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DE3A1-3D08-E727-0000-8DD59112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3ED4C-FEC4-3F4F-D6B4-FF91CA6E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683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D3F75B-5163-AE3B-BD77-14E2D262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D1B61-27AA-D2DB-D59E-F5845079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6B6C3-DB21-55FD-A391-62AA2D398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DAA6B-7A78-4CC7-BDDD-BCE21612EABA}" type="datetimeFigureOut">
              <a:rPr lang="el-GR" smtClean="0"/>
              <a:t>9/7/2026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EC809-DACD-52DD-1405-D1C7E5FE8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9D483-EFEB-3F16-2638-78D28750C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2C017-3961-4E85-9FAB-58B99B9EA0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2734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8003D"/>
      </a:accent1>
      <a:accent2>
        <a:srgbClr val="FF8B00"/>
      </a:accent2>
      <a:accent3>
        <a:srgbClr val="1B1B3A"/>
      </a:accent3>
      <a:accent4>
        <a:srgbClr val="E8B84B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Dosiadis Ioannis</dc:creator>
  <cp:lastModifiedBy>Dosiadis Ioannis</cp:lastModifiedBy>
  <cp:revision>1</cp:revision>
  <dcterms:created xsi:type="dcterms:W3CDTF">2026-07-09T11:06:09Z</dcterms:created>
  <dcterms:modified xsi:type="dcterms:W3CDTF">2026-07-09T11:06:09Z</dcterms:modified>
</cp:coreProperties>
</file>